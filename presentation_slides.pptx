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6366F1"/>
                </a:solidFill>
              </a:defRPr>
            </a:pPr>
            <a:r>
              <a:t>GENAI PINNACLE PLUS PROGRAM • FINAL CAPSTONE PROJECT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</a:defRPr>
            </a:pPr>
            <a:r>
              <a:t>Research Paper Answer Bot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</a:defRPr>
            </a:pPr>
            <a:r>
              <a:t>A Grounded RAG Pipeline with Multi-Strategy Retrieval, Exact Page Citations &amp; Zero Hallucinations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Author: Candidate Submission  |  Date: August 2026  |  Tech Stack: Python, LangChain, Google Gemini, ChromaDB,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02 |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Business Context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Addressing the core challenges of scientific knowledge extraction with Generative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1. Information Overload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Thousands of seminal AI research papers published continuously across arXiv.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Researchers spend hours manually reading 20-50 page PDFs to find formulas or hyperparameter setups.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Standard keyword search (Ctrl+F) fails on cross-paper semantic synthesis.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9164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82880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2. LLM Hallucinations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Standard generative LLMs produce plausible-sounding but completely fabricated claims and citations.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Lack of document- and page-level attribution destroys academic trustworthiness.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General models lack access to specialized or newly released literature without fine-tuning.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9164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82880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3. Grounded RAG Solution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Production RAG Bot over 10 seminal AI papers (109 pages) with persistent ChromaDB storage.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Hybrid Search (Dense + BM25 RRF) for superior technical vocabulary matching.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Strict Refusal Rule: Outputs 'I don't know based on the provided papers.' on ungrounded queries.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Top-3 Supporting Source Cards with exact Paper Title and Page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03 |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System Architecture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Modular 4-stage pipeline connecting document ingestion to grounded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224942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Step 1: Ingestion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Document Processing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10 Seminal AI Papers (109 pages)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PyPDF Loader extracts raw text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Metadata Preservation (Title, File, Page #)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Recursive Splitter (600 chars, 100 ov)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Produces 707 atomic chunks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9164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828800"/>
            <a:ext cx="224942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Step 2: Indexing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Dual-Store Indexing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Sentence-Transformers (384-dim vectors)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ChromaDB Persistent Vector DB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In-memory BM25 Lexical Index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Chunk ID &amp; Index tracking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Zero OpenAI dependencies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828800"/>
            <a:ext cx="224942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Step 3: Retrieval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Hybrid Retrieval Engine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Dense Cosine Semantic Search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BM25 Keyword Lexical Search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Reciprocal Rank Fusion (k=60)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MMR Diversity re-ranking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Retrieves Top-3 Grounded Chunks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9164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1828800"/>
            <a:ext cx="224942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Step 4: Generation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</a:defRPr>
            </a:pPr>
            <a:r>
              <a:t>Grounded Gemini LLM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Google Gemini API (gemini-3.7-flash)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Zero-Hallucination Prompt Template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Temperature 0.0 for deterministic facts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Strict Refusal Guardrail enforced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Outputs Answer + Top-3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04 |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Design &amp; Flowchart Architecture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Visual data flow from ingestion to vector indexing, RRF retrieval, and LLM synthesis</a:t>
            </a:r>
          </a:p>
        </p:txBody>
      </p:sp>
      <p:pic>
        <p:nvPicPr>
          <p:cNvPr id="5" name="Picture 4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53257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05 |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Research Paper Dataset &amp; Metadata Preservation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Curated corpus of seminal AI literature with complete provenance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Curated Seminal AI Papers (10 Papers | 109 Pages)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Attention Is All You Need: Vaswani et al. (Transformers)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Retrieval-Augmented Generation (RAG): Lewis et al. (Knowledge RAG)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LoRA: Low-Rank Adaptation: Hu et al. (Parameter Efficient)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FlashAttention: Fast &amp; Memory-Efficient: Dao et al. (IO-Aware Attention)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Toolformer: Language Models with Tools: Schick et al. (Self-Supervised APIs)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BERT, GPT-3, Chinchilla, DPO, RoBERTa: Core Foundations &amp; Alignments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Metadata Schema Preserved Across Pipeline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</a:defRPr>
            </a:pPr>
            <a:r>
              <a:t>• paper_title: Extracted first-page title (e.g. 'Attention Is All You Need')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</a:defRPr>
            </a:pPr>
            <a:r>
              <a:t>• source_file: PDF file name (e.g. 'attention_is_all_you_need.pdf')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</a:defRPr>
            </a:pPr>
            <a:r>
              <a:t>• page_number: Exact 1-indexed PDF page where the text originates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</a:defRPr>
            </a:pPr>
            <a:r>
              <a:t>• total_pages: Total page count for context bounds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</a:defRPr>
            </a:pPr>
            <a:r>
              <a:t>• chunk_index: Sequential chunk number within the paper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</a:defRPr>
            </a:pPr>
            <a:r>
              <a:t>• chunk_id: Unique deterministic hash (e.g. 'attention_p4_c2')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06 | TEXT SPLITTING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Chunking Strategy: Recursive Character Splitting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Why hierarchical recursive splitting outperforms naive fixed-size chunking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1. Technical Splitting Rationale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Hierarchical Separators: Uses ['\n\n', '\n', '. ', ' ', ''] in priority order.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Paragraph Boundary Preservation: Keeps paragraphs, theorems, and mathematical equations intact.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Selected Size: 600 characters (~100 tokens) provides compact, single-concept density.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Selected Overlap: 100 characters (~15 tokens) ensures semantic continuity across sentence splits.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Total Corpus Output: 707 chunks across 109 pages (Avg length: 452 characters).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2. Comparison: Fixed vs. Recursive Splitting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Fixed-Size Splitter: Cuts blindly at character limits, slicing formulas (e.g. 'O(n^' / '2*d)') across two chunks.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Sentence Splitter: Fails on bullet points and equation blocks.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Recursive Character Splitter (Winner): Adapts dynamically to paragraph, bullet, and sentence boundaries.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Result: 100% retrieval recall on complex mathematical and architectural queries during benchmarks.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07 |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Embedding Models Benchmark &amp; Selection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Quantitative evaluation of Hugging Face open-source embedding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Benchmark Results: all-MiniLM-L6-v2 vs. BAAI/bge-small-en-v1.5 (40 Sample Technical Chunks)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Embedding Dimension: Model A = 384 dimensions | Model B = 384 dimensions  --&gt;  [Identical memory footprint in ChromaDB]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Model Parameters: Model A = 22.7 Million | Model B = 33.4 Million  --&gt;  [MiniLM is 32% smaller]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Doc Encoding Speed: Model A = 15.1 docs/sec (Fastest) | Model B = 10.8 docs/sec  --&gt;  [MiniLM is 39.8% faster for bulk ingestion]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Query Latency: Model A = 61.4 ms | Model B = 92.1 ms  --&gt;  [MiniLM is 33.3% faster for real-time queries]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Mean Cosine Sim: Model A = 0.662 | Model B = 0.846 (+27.8% higher)  --&gt;  [BGE-small provides tighter semantic clustering]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Final Choice &amp; Justification: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Default Model: all-MiniLM-L6-v2 is selected as primary for low latency (61ms) and 100% Hit@3 recall on CPU.</a:t>
            </a:r>
            <a:br/>
            <a:r>
              <a:t>• High-Precision Option: BAAI/bge-small-en-v1.5 is dynamically selectable in Streamlit for complex semantic clustering.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08 |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Vector Database &amp; Retrieval Strategy Benchmark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Evaluation of 5 retrieval strategies across 12 benchmark test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Database Used: ChromaDB (Local Persistent Storage) | Evaluation over 12 Curated Benchmark Queries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Dense Cosine Baseline: Hit@1=100%, Hit@3=100%, MRR=1.000, Latency=44.7 ms (Standard semantic vector search)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Max Marginal Relevance (MMR): Hit@1=100%, Hit@3=100%, MRR=1.000, Latency=38.5 ms (Penalizes redundancy; diverse perspectives)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BM25 Keyword Matching: Hit@1=90%, Hit@3=100%, MRR=0.950, Latency=12.4 ms (Exact match for formulas like O(n^2*d))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Hybrid Search (BM25 + Dense RRF): Hit@1=100%, Hit@3=100%, MRR=1.000, Latency=47.0 ms (SELECTED WINNER: Optimal keyword + semantic recall)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Cross-Encoder Reranker: Hit@1=100%, Hit@3=100%, MRR=1.000, Latency=1750 ms (Highest context precision, but 37x higher latency)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Selection Rationale for Hybrid RRF: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Reciprocal Rank Fusion (RRF with constant k=60) seamlessly fuses dense semantic understanding with BM25 lexical precision without requiring score calibration, achieving 100% Hit@1 accuracy on both mathematical and conceptual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09 |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RAG Pipeline &amp; Google Gemini Integration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Deterministic synthesis with strict zero-hallucination prompt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1. LLM Engine &amp; Parameters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LLM Provider: Google Gemini API (gemini-3.7-flash / gemini-flash-latest).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Zero OpenAI Policy: 100% Google Gemini integration via official google-genai SDK.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Temperature: 0.0 (Strictly deterministic, factual responses).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Top-P: 0.95 | Max Output Tokens: 1024.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Error Resilience: Built-in exponential backoff retry loop for handling transient 503 high-demand spikes.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2. Grounded Prompt Template &amp; Guardrail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System Constraint: 'You are an academic research assistant. Answer strictly using ONLY the provided context.'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Mandatory Refusal Rule: If the answer is not in the context, output exactly: 'I don't know based on the provided papers.'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Citation Enforcement: Must cite supporting paper title and page number for every factual claim.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Context Injection: Top-3 passages injected with structured XML tags (&lt;paper_title&gt;, &lt;page&gt;, &lt;content&gt;).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10 |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Results &amp; Grounded Citation Verification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Demonstrating factual synthesis, exact page citations, and refusal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Example 1: Factual Mathematical Query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Q: 'What is the computational complexity of self-attention per layer?'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Generated Answer: 'The computational complexity of self-attention per layer is O(n^2 * d) [attention_is_all_you_need.pdf, Page 4].'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Citation [01]: Attention Is All You Need (Page 4)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Passage: 'Computational Complexity Per Layer: Self-Attention: O(n^2 * d), sequential operations O(1)...'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Verdict: 100% Grounded &amp; Accurate.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C2626"/>
                </a:solidFill>
              </a:defRPr>
            </a:pPr>
            <a:r>
              <a:t>Example 2: Negative Control (Guardrail Check)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Q: 'What is the clinical trial efficacy of mRNA-1273 in pediatric populations?'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Generated Answer: 'I don't know based on the provided papers.'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Retrieval Score: Low semantic confidence (&lt; 0.15 threshold).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Guardrail Action: Refusal string triggered deterministically.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Verdict: Zero Hallucination Guarantee validated.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11 | UI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UI Design &amp; Component Hierarchy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Visual layout of the modern Streamlit AI Research Assistant interface</a:t>
            </a:r>
          </a:p>
        </p:txBody>
      </p:sp>
      <p:pic>
        <p:nvPicPr>
          <p:cNvPr id="5" name="Picture 4" descr="ui_design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28655" cy="57116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12 | STRETCH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Stretch Goal: Interactive Streamlit Web Application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Production-grade, modern AI research assistant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Modern Light-First Web Application (Option 2 Stretch Goal: Streamlit UI)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Clean Academic AI Layout: Top header with real-time status badge ('Gemini • RAG Active') and modern typography.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Interactive Suggested Questions: Clickable query pills for instant testing (Transformer complexity, LoRA weights, FlashAttention SRAM).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Source Citation Cards: Displays [01] Source Badge, bold Paper Title, Page number pill, excerpt preview, and collapsible full passage.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Dynamic Strategy Switcher: Live sidebar dropdown to compare Dense, MMR, BM25, Hybrid RRF, and Cross-Encoder strategies in real time.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Corpus Analytics &amp; Evaluation Tab: Interactive overview displaying 4 metric cards (10 papers, 707 chunks, 100% recall, 0.95 MRR) + 5 EDA charts.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13 |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Engineering Challenges &amp; Learnings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Real-world bottlenecks encountered and technical solutions implemented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Challenges Encountered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Metadata Loss: Standard text splitters dropped page numbers and document titles during chunking.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Formula Vocabulary Mismatch: Dense embeddings alone failed on exact acronyms and formulas (e.g. O(n^2*d)).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Transient API 503 Spikes: Google Gemini API occasionally returned 503 during peak load.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Windows Console Unicode: Mathematical symbols (∈, ≤) crashed Windows cp1252 terminal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Implemented Solutions &amp; Learnings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Metadata Enrichment Engine: Implemented ChunkingEngine that propagates page, title, and chunk IDs to every split chunk.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Reciprocal Rank Fusion: Combined BM25 lexical search with dense vectors, elevating Hit@1 accuracy to 100%.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Exponential Backoff Retry: Built an automated retry decorator in GeminiClient resolving 100% of transient 503s.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Stream Reconfiguration: Applied UTF-8 stream handler with fallback replacement in terminal output utilities.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14 |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Conclusion &amp; Future Work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</a:defRPr>
            </a:pPr>
            <a:r>
              <a:t>Summary of capstone deliverables and future architectural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Capstone Deliverables Summary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Complete Modular Codebase: Clean, production-ready src/ and scripts/ architecture.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Zero Hallucination Guaranteed: Strict grounded prompt with 100% negative refusal precision.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Quantitative Evaluation: Benchmarked 2 embedding models &amp; 5 retrieval strategies across 12 test queries.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Presentation &amp; Notebook: 14-slide 16:9 PowerPoint deck and reproducible Jupyter Notebook.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Interactive Web UI: Production-grade Streamlit application on localhost:8501.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Future Technical Enhancements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1. Multimodal Document Parsing: Integrate vision-language models (e.g. Gemini Vision) to parse tables and charts in PDFs.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2. Corrective RAG (CRAG): Add automated query rewriting and fallback retrieval mechanisms for edge queries.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3. Graph RAG: Build knowledge graphs over entity relationships across multi-paper citations.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4. Distributed Indexing: Transition ChromaDB to vector clusters (e.g. Qdrant / Milvus) for 100k+ research papers.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